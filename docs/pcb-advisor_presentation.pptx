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0" y="1100000"/>
            <a:ext cx="6200000" cy="4900000"/>
          </a:xfrm>
          <a:prstGeom prst="rect">
            <a:avLst/>
          </a:prstGeom>
          <a:solidFill>
            <a:srgbClr val="131A29"/>
          </a:solidFill>
          <a:ln w="12700">
            <a:solidFill>
              <a:srgbClr val="23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0" y="1100000"/>
            <a:ext cx="6200000" cy="300000"/>
          </a:xfrm>
          <a:prstGeom prst="rect">
            <a:avLst/>
          </a:prstGeom>
          <a:solidFill>
            <a:srgbClr val="1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540000" y="1205000"/>
            <a:ext cx="90000" cy="900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80000" y="1205000"/>
            <a:ext cx="90000" cy="90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20000" y="1205000"/>
            <a:ext cx="90000" cy="90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000" y="1140000"/>
            <a:ext cx="50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Segoe UI"/>
                <a:cs typeface="Segoe UI"/>
              </a:rPr>
              <a:t>localhost:8765/?project=lte-tracker</a:t>
            </a:r>
          </a:p>
        </p:txBody>
      </p:sp>
      <p:pic>
        <p:nvPicPr>
          <p:cNvPr id="9" name="Picture 8" descr="advisor_ui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000" y="1765500"/>
            <a:ext cx="6184000" cy="3865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0000" y="1500000"/>
            <a:ext cx="45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Segoe UI"/>
                <a:cs typeface="Segoe UI"/>
              </a:rPr>
              <a:t>AI FOR HARDWARE ENGINEERING</a:t>
            </a:r>
          </a:p>
          <a:p>
            <a:pPr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Segoe UI"/>
                <a:cs typeface="Segoe UI"/>
              </a:rPr>
              <a:t>PCB Advisor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2DD4BF"/>
                </a:solidFill>
                <a:latin typeface="Segoe UI"/>
                <a:cs typeface="Segoe UI"/>
              </a:rPr>
              <a:t>Grounded AI Assistance for Altium PCB Design</a:t>
            </a:r>
          </a:p>
          <a:p>
            <a:pPr>
              <a:spcBef>
                <a:spcPts val="2000"/>
              </a:spcBef>
            </a:pPr>
            <a:r>
              <a:rPr sz="1300" b="0">
                <a:solidFill>
                  <a:srgbClr val="94A3B8"/>
                </a:solidFill>
                <a:latin typeface="Segoe UI"/>
                <a:cs typeface="Segoe UI"/>
              </a:rPr>
              <a:t>Prepares verified inputs. Audits manufactured outputs. Zero shortcuts.</a:t>
            </a:r>
          </a:p>
          <a:p>
            <a:pPr>
              <a:spcBef>
                <a:spcPts val="4500"/>
              </a:spcBef>
            </a:pPr>
            <a:r>
              <a:rPr sz="1100" b="1">
                <a:solidFill>
                  <a:srgbClr val="64748B"/>
                </a:solidFill>
                <a:latin typeface="Segoe UI"/>
                <a:cs typeface="Segoe UI"/>
              </a:rPr>
              <a:t>Student: Ilia Shalem (עילי שלם)
Lecturer: Avihai Aharon
PCB Design Course 27525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50000"/>
            <a:ext cx="8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  <a:cs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600000"/>
            <a:ext cx="10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  <a:cs typeface="Segoe UI"/>
              </a:rPr>
              <a:t>The Late Feedback 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100000"/>
            <a:ext cx="100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Segoe UI"/>
                <a:cs typeface="Segoe UI"/>
              </a:rPr>
              <a:t>Design errors compound silently until discovered at the manufacturer.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6478000"/>
            <a:ext cx="10992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Segoe UI"/>
                <a:cs typeface="Segoe UI"/>
              </a:rPr>
              <a:t>pcb-advisor  ·  Ilia Shalem  ·  Avihai Aharon (Course 27525)  ·  Slide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000" y="1700000"/>
            <a:ext cx="1790333" cy="1200000"/>
          </a:xfrm>
          <a:prstGeom prst="rect">
            <a:avLst/>
          </a:prstGeom>
          <a:solidFill>
            <a:srgbClr val="131A29"/>
          </a:solidFill>
          <a:ln w="9525">
            <a:solidFill>
              <a:srgbClr val="23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1800000"/>
            <a:ext cx="1590333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4A3B8"/>
                </a:solidFill>
                <a:latin typeface="Segoe UI"/>
                <a:cs typeface="Segoe UI"/>
              </a:rPr>
              <a:t>01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Segoe UI"/>
                <a:cs typeface="Segoe UI"/>
              </a:rPr>
              <a:t>Concept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64748B"/>
                </a:solidFill>
                <a:latin typeface="Segoe UI"/>
                <a:cs typeface="Segoe UI"/>
              </a:rPr>
              <a:t>Specs &amp; Power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440333" y="1700000"/>
            <a:ext cx="1790333" cy="1200000"/>
          </a:xfrm>
          <a:prstGeom prst="rect">
            <a:avLst/>
          </a:prstGeom>
          <a:solidFill>
            <a:srgbClr val="131A29"/>
          </a:solidFill>
          <a:ln w="9525">
            <a:solidFill>
              <a:srgbClr val="23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0333" y="1800000"/>
            <a:ext cx="1590333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4A3B8"/>
                </a:solidFill>
                <a:latin typeface="Segoe UI"/>
                <a:cs typeface="Segoe UI"/>
              </a:rPr>
              <a:t>02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Segoe UI"/>
                <a:cs typeface="Segoe UI"/>
              </a:rPr>
              <a:t>Parts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64748B"/>
                </a:solidFill>
                <a:latin typeface="Segoe UI"/>
                <a:cs typeface="Segoe UI"/>
              </a:rPr>
              <a:t>Stock &amp; Sourcing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0666" y="1700000"/>
            <a:ext cx="1790333" cy="1200000"/>
          </a:xfrm>
          <a:prstGeom prst="rect">
            <a:avLst/>
          </a:prstGeom>
          <a:solidFill>
            <a:srgbClr val="131A29"/>
          </a:solidFill>
          <a:ln w="9525">
            <a:solidFill>
              <a:srgbClr val="23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0666" y="1800000"/>
            <a:ext cx="1590333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4A3B8"/>
                </a:solidFill>
                <a:latin typeface="Segoe UI"/>
                <a:cs typeface="Segoe UI"/>
              </a:rPr>
              <a:t>03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Segoe UI"/>
                <a:cs typeface="Segoe UI"/>
              </a:rPr>
              <a:t>Library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64748B"/>
                </a:solidFill>
                <a:latin typeface="Segoe UI"/>
                <a:cs typeface="Segoe UI"/>
              </a:rPr>
              <a:t>Symbols &amp; Footprints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0999" y="1700000"/>
            <a:ext cx="1790333" cy="1200000"/>
          </a:xfrm>
          <a:prstGeom prst="rect">
            <a:avLst/>
          </a:prstGeom>
          <a:solidFill>
            <a:srgbClr val="131A29"/>
          </a:solidFill>
          <a:ln w="9525">
            <a:solidFill>
              <a:srgbClr val="23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0999" y="1800000"/>
            <a:ext cx="1590333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4A3B8"/>
                </a:solidFill>
                <a:latin typeface="Segoe UI"/>
                <a:cs typeface="Segoe UI"/>
              </a:rPr>
              <a:t>04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Segoe UI"/>
                <a:cs typeface="Segoe UI"/>
              </a:rPr>
              <a:t>Schematic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64748B"/>
                </a:solidFill>
                <a:latin typeface="Segoe UI"/>
                <a:cs typeface="Segoe UI"/>
              </a:rPr>
              <a:t>Wiring &amp; Pinouts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61332" y="1700000"/>
            <a:ext cx="1790333" cy="1200000"/>
          </a:xfrm>
          <a:prstGeom prst="rect">
            <a:avLst/>
          </a:prstGeom>
          <a:solidFill>
            <a:srgbClr val="131A29"/>
          </a:solidFill>
          <a:ln w="9525">
            <a:solidFill>
              <a:srgbClr val="23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1332" y="1800000"/>
            <a:ext cx="1590333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4A3B8"/>
                </a:solidFill>
                <a:latin typeface="Segoe UI"/>
                <a:cs typeface="Segoe UI"/>
              </a:rPr>
              <a:t>05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Segoe UI"/>
                <a:cs typeface="Segoe UI"/>
              </a:rPr>
              <a:t>Layout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64748B"/>
                </a:solidFill>
                <a:latin typeface="Segoe UI"/>
                <a:cs typeface="Segoe UI"/>
              </a:rPr>
              <a:t>Placement &amp; Routing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01665" y="1700000"/>
            <a:ext cx="1790333" cy="1200000"/>
          </a:xfrm>
          <a:prstGeom prst="rect">
            <a:avLst/>
          </a:prstGeom>
          <a:solidFill>
            <a:srgbClr val="131A29"/>
          </a:solidFill>
          <a:ln w="9525">
            <a:solidFill>
              <a:srgbClr val="23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01665" y="1800000"/>
            <a:ext cx="1590333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87171"/>
                </a:solidFill>
                <a:latin typeface="Segoe UI"/>
                <a:cs typeface="Segoe UI"/>
              </a:rPr>
              <a:t>06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Segoe UI"/>
                <a:cs typeface="Segoe UI"/>
              </a:rPr>
              <a:t>Fabrication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64748B"/>
                </a:solidFill>
                <a:latin typeface="Segoe UI"/>
                <a:cs typeface="Segoe UI"/>
              </a:rPr>
              <a:t>DFM &amp; Assembly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0000" y="3150000"/>
            <a:ext cx="10992000" cy="800000"/>
          </a:xfrm>
          <a:prstGeom prst="rect">
            <a:avLst/>
          </a:prstGeom>
          <a:solidFill>
            <a:srgbClr val="1F1318"/>
          </a:solidFill>
          <a:ln w="9525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000" y="3300000"/>
            <a:ext cx="10592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87171"/>
                </a:solidFill>
                <a:latin typeface="Segoe UI"/>
                <a:cs typeface="Segoe UI"/>
              </a:rPr>
              <a:t>CRITICAL FLAW:  </a:t>
            </a:r>
            <a:r>
              <a:rPr sz="1300" b="0">
                <a:solidFill>
                  <a:srgbClr val="FFFFFF"/>
                </a:solidFill>
                <a:latin typeface="Segoe UI"/>
                <a:cs typeface="Segoe UI"/>
              </a:rPr>
              <a:t>80% of student failures are discovered at Stage 06 during manufacturer review.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94A3B8"/>
                </a:solidFill>
                <a:latin typeface="Segoe UI"/>
                <a:cs typeface="Segoe UI"/>
              </a:rPr>
              <a:t>Out-of-stock chips, mismatched footprints, and unrouted pins force weeks of complete re-spins.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0000" y="4200000"/>
            <a:ext cx="3530666" cy="1800000"/>
          </a:xfrm>
          <a:prstGeom prst="rect">
            <a:avLst/>
          </a:prstGeom>
          <a:solidFill>
            <a:srgbClr val="131A29"/>
          </a:solidFill>
          <a:ln w="9525">
            <a:solidFill>
              <a:srgbClr val="23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0000" y="4350000"/>
            <a:ext cx="3230666" cy="1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87171"/>
                </a:solidFill>
                <a:latin typeface="Segoe UI"/>
                <a:cs typeface="Segoe UI"/>
              </a:rPr>
              <a:t>Late Footprint Discovery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Package mismatches (e.g. A7670C vs G) caught only after full routing is finished.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0666" y="4200000"/>
            <a:ext cx="3530666" cy="1800000"/>
          </a:xfrm>
          <a:prstGeom prst="rect">
            <a:avLst/>
          </a:prstGeom>
          <a:solidFill>
            <a:srgbClr val="131A29"/>
          </a:solidFill>
          <a:ln w="9525">
            <a:solidFill>
              <a:srgbClr val="23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666" y="4350000"/>
            <a:ext cx="3230666" cy="1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BBF24"/>
                </a:solidFill>
                <a:latin typeface="Segoe UI"/>
                <a:cs typeface="Segoe UI"/>
              </a:rPr>
              <a:t>DFM Scanner Noise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Online fab checkers flag dozens of harmless false positives, obscuring real defects.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1332" y="4200000"/>
            <a:ext cx="3530666" cy="1800000"/>
          </a:xfrm>
          <a:prstGeom prst="rect">
            <a:avLst/>
          </a:prstGeom>
          <a:solidFill>
            <a:srgbClr val="131A29"/>
          </a:solidFill>
          <a:ln w="9525">
            <a:solidFill>
              <a:srgbClr val="23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1332" y="4350000"/>
            <a:ext cx="3230666" cy="1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94A3B8"/>
                </a:solidFill>
                <a:latin typeface="Segoe UI"/>
                <a:cs typeface="Segoe UI"/>
              </a:rPr>
              <a:t>Scattered Altium Knowledge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Essential layout rules and calculator formulas are buried across manuals and forums.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50000"/>
            <a:ext cx="8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  <a:cs typeface="Segoe UI"/>
              </a:rPr>
              <a:t>PRODUCT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600000"/>
            <a:ext cx="10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  <a:cs typeface="Segoe UI"/>
              </a:rPr>
              <a:t>A Mentor, Not an Auto-Pilot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100000"/>
            <a:ext cx="100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Segoe UI"/>
                <a:cs typeface="Segoe UI"/>
              </a:rPr>
              <a:t>Prepares what enters Altium. Audits what leaves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6478000"/>
            <a:ext cx="10992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Segoe UI"/>
                <a:cs typeface="Segoe UI"/>
              </a:rPr>
              <a:t>pcb-advisor  ·  Ilia Shalem  ·  Avihai Aharon (Course 27525)  ·  Slide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000" y="1700000"/>
            <a:ext cx="3530666" cy="4300000"/>
          </a:xfrm>
          <a:prstGeom prst="rect">
            <a:avLst/>
          </a:prstGeom>
          <a:solidFill>
            <a:srgbClr val="131A29"/>
          </a:solidFill>
          <a:ln w="9525">
            <a:solidFill>
              <a:srgbClr val="23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0000" y="1900000"/>
            <a:ext cx="3230666" cy="3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Segoe UI"/>
                <a:cs typeface="Segoe UI"/>
              </a:rPr>
              <a:t>01  PRE-ALTIUM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Input Preparation</a:t>
            </a:r>
          </a:p>
          <a:p>
            <a:pPr>
              <a:spcBef>
                <a:spcPts val="14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—  Live JLCPCB stock verification</a:t>
            </a:r>
          </a:p>
          <a:p>
            <a:pPr>
              <a:spcBef>
                <a:spcPts val="14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—  Unified footprint &amp; 3D model library</a:t>
            </a:r>
          </a:p>
          <a:p>
            <a:pPr>
              <a:spcBef>
                <a:spcPts val="14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—  Pre-calculated 50Ω impedance rules</a:t>
            </a:r>
          </a:p>
          <a:p>
            <a:pPr>
              <a:spcBef>
                <a:spcPts val="14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—  Clear power &amp; debug specs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0666" y="1700000"/>
            <a:ext cx="3530666" cy="4300000"/>
          </a:xfrm>
          <a:prstGeom prst="rect">
            <a:avLst/>
          </a:prstGeom>
          <a:solidFill>
            <a:srgbClr val="0E16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666" y="1900000"/>
            <a:ext cx="3230666" cy="3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Segoe UI"/>
                <a:cs typeface="Segoe UI"/>
              </a:rPr>
              <a:t>02  THE STUDENT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Core Engineering</a:t>
            </a:r>
          </a:p>
          <a:p>
            <a:pPr>
              <a:spcBef>
                <a:spcPts val="1400"/>
              </a:spcBef>
            </a:pPr>
            <a:r>
              <a:rPr sz="1200" b="0">
                <a:solidFill>
                  <a:srgbClr val="FFFFFF"/>
                </a:solidFill>
                <a:latin typeface="Segoe UI"/>
                <a:cs typeface="Segoe UI"/>
              </a:rPr>
              <a:t>—  Schematic capture &amp; net labeling</a:t>
            </a:r>
          </a:p>
          <a:p>
            <a:pPr>
              <a:spcBef>
                <a:spcPts val="1400"/>
              </a:spcBef>
            </a:pPr>
            <a:r>
              <a:rPr sz="1200" b="0">
                <a:solidFill>
                  <a:srgbClr val="FFFFFF"/>
                </a:solidFill>
                <a:latin typeface="Segoe UI"/>
                <a:cs typeface="Segoe UI"/>
              </a:rPr>
              <a:t>—  Component placement &amp; floorplanning</a:t>
            </a:r>
          </a:p>
          <a:p>
            <a:pPr>
              <a:spcBef>
                <a:spcPts val="1400"/>
              </a:spcBef>
            </a:pPr>
            <a:r>
              <a:rPr sz="1200" b="0">
                <a:solidFill>
                  <a:srgbClr val="FFFFFF"/>
                </a:solidFill>
                <a:latin typeface="Segoe UI"/>
                <a:cs typeface="Segoe UI"/>
              </a:rPr>
              <a:t>—  Trace routing &amp; via transitions</a:t>
            </a:r>
          </a:p>
          <a:p>
            <a:pPr>
              <a:spcBef>
                <a:spcPts val="1400"/>
              </a:spcBef>
            </a:pPr>
            <a:r>
              <a:rPr sz="1200" b="0">
                <a:solidFill>
                  <a:srgbClr val="FFFFFF"/>
                </a:solidFill>
                <a:latin typeface="Segoe UI"/>
                <a:cs typeface="Segoe UI"/>
              </a:rPr>
              <a:t>—  Ground &amp; power copper pours</a:t>
            </a:r>
          </a:p>
          <a:p>
            <a:pPr>
              <a:spcBef>
                <a:spcPts val="1400"/>
              </a:spcBef>
            </a:pPr>
            <a:r>
              <a:rPr sz="1200" b="0">
                <a:solidFill>
                  <a:srgbClr val="FFFFFF"/>
                </a:solidFill>
                <a:latin typeface="Segoe UI"/>
                <a:cs typeface="Segoe UI"/>
              </a:rPr>
              <a:t>—  100% Student Decision Making</a:t>
            </a:r>
          </a:p>
          <a:p>
            <a:pPr>
              <a:spcBef>
                <a:spcPts val="2500"/>
              </a:spcBef>
            </a:pPr>
            <a:r>
              <a:rPr sz="1100" b="1">
                <a:solidFill>
                  <a:srgbClr val="2DD4BF"/>
                </a:solidFill>
                <a:latin typeface="Segoe UI"/>
                <a:cs typeface="Segoe UI"/>
              </a:rPr>
              <a:t>The tool never clicks the mouse or routes traces for the student.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1332" y="1700000"/>
            <a:ext cx="3530666" cy="4300000"/>
          </a:xfrm>
          <a:prstGeom prst="rect">
            <a:avLst/>
          </a:prstGeom>
          <a:solidFill>
            <a:srgbClr val="131A29"/>
          </a:solidFill>
          <a:ln w="9525">
            <a:solidFill>
              <a:srgbClr val="23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32" y="1900000"/>
            <a:ext cx="3230666" cy="3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4D399"/>
                </a:solidFill>
                <a:latin typeface="Segoe UI"/>
                <a:cs typeface="Segoe UI"/>
              </a:rPr>
              <a:t>03  POST-ALTIUM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Audit &amp; Verification</a:t>
            </a:r>
          </a:p>
          <a:p>
            <a:pPr>
              <a:spcBef>
                <a:spcPts val="14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—  Schematic audit against datasheets</a:t>
            </a:r>
          </a:p>
          <a:p>
            <a:pPr>
              <a:spcBef>
                <a:spcPts val="14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—  Decoupling cap proximity inspection</a:t>
            </a:r>
          </a:p>
          <a:p>
            <a:pPr>
              <a:spcBef>
                <a:spcPts val="14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—  Gerber, Drill &amp; CPL validation</a:t>
            </a:r>
          </a:p>
          <a:p>
            <a:pPr>
              <a:spcBef>
                <a:spcPts val="14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—  DFM false-positive filtering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50000"/>
            <a:ext cx="8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  <a:cs typeface="Segoe UI"/>
              </a:rPr>
              <a:t>STAGE 01: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600000"/>
            <a:ext cx="10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  <a:cs typeface="Segoe UI"/>
              </a:rPr>
              <a:t>Automated Course Rules &amp; Feasibility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100000"/>
            <a:ext cx="100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Segoe UI"/>
                <a:cs typeface="Segoe UI"/>
              </a:rPr>
              <a:t>Validates requirements against official guidelines before drawing a wire.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6478000"/>
            <a:ext cx="10992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Segoe UI"/>
                <a:cs typeface="Segoe UI"/>
              </a:rPr>
              <a:t>pcb-advisor  ·  Ilia Shalem  ·  Avihai Aharon (Course 27525)  ·  Slide 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000" y="1600000"/>
            <a:ext cx="7300000" cy="4750000"/>
          </a:xfrm>
          <a:prstGeom prst="rect">
            <a:avLst/>
          </a:prstGeom>
          <a:solidFill>
            <a:srgbClr val="131A29"/>
          </a:solidFill>
          <a:ln w="12700">
            <a:solidFill>
              <a:srgbClr val="23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0000" y="1600000"/>
            <a:ext cx="7300000" cy="300000"/>
          </a:xfrm>
          <a:prstGeom prst="rect">
            <a:avLst/>
          </a:prstGeom>
          <a:solidFill>
            <a:srgbClr val="1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0000" y="1705000"/>
            <a:ext cx="90000" cy="900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0000" y="1705000"/>
            <a:ext cx="90000" cy="90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0000" y="1705000"/>
            <a:ext cx="90000" cy="90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0000" y="1640000"/>
            <a:ext cx="61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Segoe UI"/>
                <a:cs typeface="Segoe UI"/>
              </a:rPr>
              <a:t>PCB Advisor — Idea Refinement &amp; Course Guidelines</a:t>
            </a:r>
          </a:p>
        </p:txBody>
      </p:sp>
      <p:pic>
        <p:nvPicPr>
          <p:cNvPr id="13" name="Picture 12" descr="advisor_ui_idea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600" y="1904000"/>
            <a:ext cx="7100800" cy="443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50000" y="1700000"/>
            <a:ext cx="3342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  <a:cs typeface="Segoe UI"/>
              </a:rPr>
              <a:t>01  Syllabus Compliance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Audits project against official course guidelines (e.g. verifying &gt;=3 ICs and ~10 parts count).</a:t>
            </a:r>
          </a:p>
          <a:p>
            <a:pPr>
              <a:spcBef>
                <a:spcPts val="2000"/>
              </a:spcBef>
            </a:pPr>
            <a:r>
              <a:rPr sz="1400" b="1">
                <a:solidFill>
                  <a:srgbClr val="FFFFFF"/>
                </a:solidFill>
                <a:latin typeface="Segoe UI"/>
                <a:cs typeface="Segoe UI"/>
              </a:rPr>
              <a:t>02  Feasibility Inquiry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Grounded chat refines power budget, battery life, and size constraints upfront.</a:t>
            </a:r>
          </a:p>
          <a:p>
            <a:pPr>
              <a:spcBef>
                <a:spcPts val="2000"/>
              </a:spcBef>
            </a:pPr>
            <a:r>
              <a:rPr sz="1400" b="1">
                <a:solidFill>
                  <a:srgbClr val="FFFFFF"/>
                </a:solidFill>
                <a:latin typeface="Segoe UI"/>
                <a:cs typeface="Segoe UI"/>
              </a:rPr>
              <a:t>03  Block Architecture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Synthesizes confirmed requirements into an agreed subsystem block diagram.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50000"/>
            <a:ext cx="8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  <a:cs typeface="Segoe UI"/>
              </a:rPr>
              <a:t>STAGE 02: PARTS &amp; SOURCING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600000"/>
            <a:ext cx="10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  <a:cs typeface="Segoe UI"/>
              </a:rPr>
              <a:t>Unified Workspace &amp; Live BOM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100000"/>
            <a:ext cx="100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Segoe UI"/>
                <a:cs typeface="Segoe UI"/>
              </a:rPr>
              <a:t>Real-time distributor stock queries connected to Altium project files.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6478000"/>
            <a:ext cx="10992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Segoe UI"/>
                <a:cs typeface="Segoe UI"/>
              </a:rPr>
              <a:t>pcb-advisor  ·  Ilia Shalem  ·  Avihai Aharon (Course 27525)  ·  Slide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000" y="1600000"/>
            <a:ext cx="7300000" cy="4750000"/>
          </a:xfrm>
          <a:prstGeom prst="rect">
            <a:avLst/>
          </a:prstGeom>
          <a:solidFill>
            <a:srgbClr val="131A29"/>
          </a:solidFill>
          <a:ln w="12700">
            <a:solidFill>
              <a:srgbClr val="23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0000" y="1600000"/>
            <a:ext cx="7300000" cy="300000"/>
          </a:xfrm>
          <a:prstGeom prst="rect">
            <a:avLst/>
          </a:prstGeom>
          <a:solidFill>
            <a:srgbClr val="1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0000" y="1705000"/>
            <a:ext cx="90000" cy="900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0000" y="1705000"/>
            <a:ext cx="90000" cy="90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0000" y="1705000"/>
            <a:ext cx="90000" cy="90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0000" y="1640000"/>
            <a:ext cx="61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Segoe UI"/>
                <a:cs typeface="Segoe UI"/>
              </a:rPr>
              <a:t>PCB Advisor — Bill of Materials &amp; Stock Audit</a:t>
            </a:r>
          </a:p>
        </p:txBody>
      </p:sp>
      <p:pic>
        <p:nvPicPr>
          <p:cNvPr id="13" name="Picture 12" descr="advisor_ui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600" y="1904000"/>
            <a:ext cx="7100800" cy="443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50000" y="1700000"/>
            <a:ext cx="3342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  <a:cs typeface="Segoe UI"/>
              </a:rPr>
              <a:t>01  Live Distributor Stock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Queries real-time JLCPCB availability and flags out-of-stock parts (e.g. D30) before routing.</a:t>
            </a:r>
          </a:p>
          <a:p>
            <a:pPr>
              <a:spcBef>
                <a:spcPts val="2000"/>
              </a:spcBef>
            </a:pPr>
            <a:r>
              <a:rPr sz="1400" b="1">
                <a:solidFill>
                  <a:srgbClr val="FFFFFF"/>
                </a:solidFill>
                <a:latin typeface="Segoe UI"/>
                <a:cs typeface="Segoe UI"/>
              </a:rPr>
              <a:t>02  Grounded AI Assistant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Context-aware chat answers Altium questions, citing official course and datasheet rules.</a:t>
            </a:r>
          </a:p>
          <a:p>
            <a:pPr>
              <a:spcBef>
                <a:spcPts val="2000"/>
              </a:spcBef>
            </a:pPr>
            <a:r>
              <a:rPr sz="1400" b="1">
                <a:solidFill>
                  <a:srgbClr val="FFFFFF"/>
                </a:solidFill>
                <a:latin typeface="Segoe UI"/>
                <a:cs typeface="Segoe UI"/>
              </a:rPr>
              <a:t>03  One-Click Proposal Flow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The AI proposes parametric fixes (e.g. cheaper alternatives), and the student explicitly approves.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50000"/>
            <a:ext cx="8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  <a:cs typeface="Segoe UI"/>
              </a:rPr>
              <a:t>STAGE 04: SCHEMATIC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600000"/>
            <a:ext cx="10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  <a:cs typeface="Segoe UI"/>
              </a:rPr>
              <a:t>Automated Netlist &amp; Datasheet Auditing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100000"/>
            <a:ext cx="100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Segoe UI"/>
                <a:cs typeface="Segoe UI"/>
              </a:rPr>
              <a:t>Extracts schematic connectivity and verifies pin constraints against datasheets.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6478000"/>
            <a:ext cx="10992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Segoe UI"/>
                <a:cs typeface="Segoe UI"/>
              </a:rPr>
              <a:t>pcb-advisor  ·  Ilia Shalem  ·  Avihai Aharon (Course 27525)  ·  Slide 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000" y="1600000"/>
            <a:ext cx="7300000" cy="4750000"/>
          </a:xfrm>
          <a:prstGeom prst="rect">
            <a:avLst/>
          </a:prstGeom>
          <a:solidFill>
            <a:srgbClr val="131A29"/>
          </a:solidFill>
          <a:ln w="12700">
            <a:solidFill>
              <a:srgbClr val="23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0000" y="1600000"/>
            <a:ext cx="7300000" cy="300000"/>
          </a:xfrm>
          <a:prstGeom prst="rect">
            <a:avLst/>
          </a:prstGeom>
          <a:solidFill>
            <a:srgbClr val="1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0000" y="1705000"/>
            <a:ext cx="90000" cy="900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0000" y="1705000"/>
            <a:ext cx="90000" cy="90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0000" y="1705000"/>
            <a:ext cx="90000" cy="90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0000" y="1640000"/>
            <a:ext cx="61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Segoe UI"/>
                <a:cs typeface="Segoe UI"/>
              </a:rPr>
              <a:t>PCB Advisor — Netlist Visualizer &amp; Pin Auditor</a:t>
            </a:r>
          </a:p>
        </p:txBody>
      </p:sp>
      <p:pic>
        <p:nvPicPr>
          <p:cNvPr id="13" name="Picture 12" descr="advisor_ui_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600" y="1904000"/>
            <a:ext cx="7100800" cy="443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50000" y="1700000"/>
            <a:ext cx="3342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  <a:cs typeface="Segoe UI"/>
              </a:rPr>
              <a:t>01  Netlist-Driven Render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Generates clear circuit views directly from Altium connectivity without GUI scraping.</a:t>
            </a:r>
          </a:p>
          <a:p>
            <a:pPr>
              <a:spcBef>
                <a:spcPts val="2000"/>
              </a:spcBef>
            </a:pPr>
            <a:r>
              <a:rPr sz="1400" b="1">
                <a:solidFill>
                  <a:srgbClr val="FFFFFF"/>
                </a:solidFill>
                <a:latin typeface="Segoe UI"/>
                <a:cs typeface="Segoe UI"/>
              </a:rPr>
              <a:t>02  Pin-by-Pin Validation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Verifies decoupling caps, power rails (VBAT 3.8V), and ESD protection per component specs.</a:t>
            </a:r>
          </a:p>
          <a:p>
            <a:pPr>
              <a:spcBef>
                <a:spcPts val="2000"/>
              </a:spcBef>
            </a:pPr>
            <a:r>
              <a:rPr sz="1400" b="1">
                <a:solidFill>
                  <a:srgbClr val="FFFFFF"/>
                </a:solidFill>
                <a:latin typeface="Segoe UI"/>
                <a:cs typeface="Segoe UI"/>
              </a:rPr>
              <a:t>03  Zero Hallucinations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Every recommendation is backed by a verified citation from local manufacturer PDF files.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50000"/>
            <a:ext cx="8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  <a:cs typeface="Segoe UI"/>
              </a:rPr>
              <a:t>STAGE 06: FABRICATION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600000"/>
            <a:ext cx="10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  <a:cs typeface="Segoe UI"/>
              </a:rPr>
              <a:t>Distinguishing Real Defects from Fab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100000"/>
            <a:ext cx="100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Segoe UI"/>
                <a:cs typeface="Segoe UI"/>
              </a:rPr>
              <a:t>JLCDFM generates dozens of harmless alarms. The tool separates signal from noise.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6478000"/>
            <a:ext cx="10992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Segoe UI"/>
                <a:cs typeface="Segoe UI"/>
              </a:rPr>
              <a:t>pcb-advisor  ·  Ilia Shalem  ·  Avihai Aharon (Course 27525)  ·  Slide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000" y="1600000"/>
            <a:ext cx="7300000" cy="4750000"/>
          </a:xfrm>
          <a:prstGeom prst="rect">
            <a:avLst/>
          </a:prstGeom>
          <a:solidFill>
            <a:srgbClr val="131A29"/>
          </a:solidFill>
          <a:ln w="12700">
            <a:solidFill>
              <a:srgbClr val="23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0000" y="1600000"/>
            <a:ext cx="7300000" cy="300000"/>
          </a:xfrm>
          <a:prstGeom prst="rect">
            <a:avLst/>
          </a:prstGeom>
          <a:solidFill>
            <a:srgbClr val="1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0000" y="1705000"/>
            <a:ext cx="90000" cy="900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0000" y="1705000"/>
            <a:ext cx="90000" cy="90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0000" y="1705000"/>
            <a:ext cx="90000" cy="90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0000" y="1640000"/>
            <a:ext cx="61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Segoe UI"/>
                <a:cs typeface="Segoe UI"/>
              </a:rPr>
              <a:t>JLCDFM Viewer — Automated SMT Assembly Analysis</a:t>
            </a:r>
          </a:p>
        </p:txBody>
      </p:sp>
      <p:pic>
        <p:nvPicPr>
          <p:cNvPr id="13" name="Picture 12" descr="jlcdfm_clea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00" y="2192620"/>
            <a:ext cx="7284000" cy="3860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50000" y="1700000"/>
            <a:ext cx="3342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Segoe UI"/>
                <a:cs typeface="Segoe UI"/>
              </a:rPr>
              <a:t>REAL DEFECTS ELIMINATED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Segoe UI"/>
                <a:cs typeface="Segoe UI"/>
              </a:rPr>
              <a:t>—  Board outline on copper (48 -&gt; 0)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Segoe UI"/>
                <a:cs typeface="Segoe UI"/>
              </a:rPr>
              <a:t>—  Thin silkscreen lines (12 -&gt; 0)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Segoe UI"/>
                <a:cs typeface="Segoe UI"/>
              </a:rPr>
              <a:t>—  Component CPL rotation mismatches</a:t>
            </a:r>
          </a:p>
          <a:p>
            <a:pPr>
              <a:spcBef>
                <a:spcPts val="2800"/>
              </a:spcBef>
            </a:pPr>
            <a:r>
              <a:rPr sz="1300" b="1">
                <a:solidFill>
                  <a:srgbClr val="FBBF24"/>
                </a:solidFill>
                <a:latin typeface="Segoe UI"/>
                <a:cs typeface="Segoe UI"/>
              </a:rPr>
              <a:t>FALSE POSITIVES FILTERED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—  146 LGA pin warnings: Generic 3D model vs actual SIMCom spec.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—  Pad spacing alerts: Power vias on the exact same electrical net.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—  Through-hole offset: Connector preview anchor artifact.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50000"/>
            <a:ext cx="8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  <a:cs typeface="Segoe U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600000"/>
            <a:ext cx="10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  <a:cs typeface="Segoe UI"/>
              </a:rPr>
              <a:t>Empirical Benchmark: 12 Real Incidents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100000"/>
            <a:ext cx="100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Segoe UI"/>
                <a:cs typeface="Segoe UI"/>
              </a:rPr>
              <a:t>Evaluated against actual failure logs from a 4-layer industrial kiln controller.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6478000"/>
            <a:ext cx="10992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Segoe UI"/>
                <a:cs typeface="Segoe UI"/>
              </a:rPr>
              <a:t>pcb-advisor  ·  Ilia Shalem  ·  Avihai Aharon (Course 27525)  ·  Slide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000" y="1700000"/>
            <a:ext cx="3600000" cy="1250000"/>
          </a:xfrm>
          <a:prstGeom prst="rect">
            <a:avLst/>
          </a:prstGeom>
          <a:solidFill>
            <a:srgbClr val="131A29"/>
          </a:solidFill>
          <a:ln w="9525">
            <a:solidFill>
              <a:srgbClr val="23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0000" y="1800000"/>
            <a:ext cx="3300000" cy="10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8BDF8"/>
                </a:solidFill>
                <a:latin typeface="Segoe UI"/>
                <a:cs typeface="Segoe UI"/>
              </a:rPr>
              <a:t>12 / 12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Segoe UI"/>
                <a:cs typeface="Segoe UI"/>
              </a:rPr>
              <a:t>Incidents Evaluated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4748B"/>
                </a:solidFill>
                <a:latin typeface="Segoe UI"/>
                <a:cs typeface="Segoe UI"/>
              </a:rPr>
              <a:t>Derived from student design logs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0000" y="3100000"/>
            <a:ext cx="3600000" cy="1250000"/>
          </a:xfrm>
          <a:prstGeom prst="rect">
            <a:avLst/>
          </a:prstGeom>
          <a:solidFill>
            <a:srgbClr val="131A29"/>
          </a:solidFill>
          <a:ln w="9525">
            <a:solidFill>
              <a:srgbClr val="23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0000" y="3200000"/>
            <a:ext cx="3300000" cy="10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  <a:cs typeface="Segoe UI"/>
              </a:rPr>
              <a:t>3 Stages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Segoe UI"/>
                <a:cs typeface="Segoe UI"/>
              </a:rPr>
              <a:t>Earlier Detection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4748B"/>
                </a:solidFill>
                <a:latin typeface="Segoe UI"/>
                <a:cs typeface="Segoe UI"/>
              </a:rPr>
              <a:t>Caught at BOM/Sch instead of Fab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000" y="4500000"/>
            <a:ext cx="3600000" cy="1250000"/>
          </a:xfrm>
          <a:prstGeom prst="rect">
            <a:avLst/>
          </a:prstGeom>
          <a:solidFill>
            <a:srgbClr val="131A29"/>
          </a:solidFill>
          <a:ln w="9525">
            <a:solidFill>
              <a:srgbClr val="23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0000" y="4600000"/>
            <a:ext cx="3300000" cy="10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4D399"/>
                </a:solidFill>
                <a:latin typeface="Segoe UI"/>
                <a:cs typeface="Segoe UI"/>
              </a:rPr>
              <a:t>0 Defects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Segoe UI"/>
                <a:cs typeface="Segoe UI"/>
              </a:rPr>
              <a:t>Final Hardware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64748B"/>
                </a:solidFill>
                <a:latin typeface="Segoe UI"/>
                <a:cs typeface="Segoe UI"/>
              </a:rPr>
              <a:t>100% First-pass yield achieved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00000" y="1700000"/>
          <a:ext cx="7092000" cy="4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/>
                <a:gridCol w="1800000"/>
                <a:gridCol w="2092000"/>
              </a:tblGrid>
              <a:tr h="68333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4748B"/>
                          </a:solidFill>
                          <a:latin typeface="Segoe UI"/>
                          <a:cs typeface="Segoe UI"/>
                        </a:rPr>
                        <a:t>REAL INCIDENT (KILN PROJECT)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4748B"/>
                          </a:solidFill>
                          <a:latin typeface="Segoe UI"/>
                          <a:cs typeface="Segoe UI"/>
                        </a:rPr>
                        <a:t>ACTUAL DISCOVERY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4748B"/>
                          </a:solidFill>
                          <a:latin typeface="Segoe UI"/>
                          <a:cs typeface="Segoe UI"/>
                        </a:rPr>
                        <a:t>PCB ADVISOR WARNING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</a:tr>
              <a:tr h="683333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Cellular Modem Footprint (A7670C vs G)</a:t>
                      </a:r>
                    </a:p>
                  </a:txBody>
                  <a:tcPr>
                    <a:solidFill>
                      <a:srgbClr val="131A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87171"/>
                          </a:solidFill>
                          <a:latin typeface="Segoe UI"/>
                          <a:cs typeface="Segoe UI"/>
                        </a:rPr>
                        <a:t>Stage 06 (Fab Review)</a:t>
                      </a:r>
                    </a:p>
                  </a:txBody>
                  <a:tcPr>
                    <a:solidFill>
                      <a:srgbClr val="131A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Segoe UI"/>
                          <a:cs typeface="Segoe UI"/>
                        </a:rPr>
                        <a:t>Stage 03 (Library Match)</a:t>
                      </a:r>
                    </a:p>
                  </a:txBody>
                  <a:tcPr>
                    <a:solidFill>
                      <a:srgbClr val="131A29"/>
                    </a:solidFill>
                  </a:tcPr>
                </a:tc>
              </a:tr>
              <a:tr h="683333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11 Missing BOM Component Matches</a:t>
                      </a:r>
                    </a:p>
                  </a:txBody>
                  <a:tcPr>
                    <a:solidFill>
                      <a:srgbClr val="131A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87171"/>
                          </a:solidFill>
                          <a:latin typeface="Segoe UI"/>
                          <a:cs typeface="Segoe UI"/>
                        </a:rPr>
                        <a:t>Stage 06 (Order Upload)</a:t>
                      </a:r>
                    </a:p>
                  </a:txBody>
                  <a:tcPr>
                    <a:solidFill>
                      <a:srgbClr val="131A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Segoe UI"/>
                          <a:cs typeface="Segoe UI"/>
                        </a:rPr>
                        <a:t>Stage 02 (BOM Ingestion)</a:t>
                      </a:r>
                    </a:p>
                  </a:txBody>
                  <a:tcPr>
                    <a:solidFill>
                      <a:srgbClr val="131A29"/>
                    </a:solidFill>
                  </a:tcPr>
                </a:tc>
              </a:tr>
              <a:tr h="683333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High-Cost Extended Flash ($19.40)</a:t>
                      </a:r>
                    </a:p>
                  </a:txBody>
                  <a:tcPr>
                    <a:solidFill>
                      <a:srgbClr val="131A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87171"/>
                          </a:solidFill>
                          <a:latin typeface="Segoe UI"/>
                          <a:cs typeface="Segoe UI"/>
                        </a:rPr>
                        <a:t>Stage 06 (Quote Check)</a:t>
                      </a:r>
                    </a:p>
                  </a:txBody>
                  <a:tcPr>
                    <a:solidFill>
                      <a:srgbClr val="131A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Segoe UI"/>
                          <a:cs typeface="Segoe UI"/>
                        </a:rPr>
                        <a:t>Stage 02 ($4.10 Alternative)</a:t>
                      </a:r>
                    </a:p>
                  </a:txBody>
                  <a:tcPr>
                    <a:solidFill>
                      <a:srgbClr val="131A29"/>
                    </a:solidFill>
                  </a:tcPr>
                </a:tc>
              </a:tr>
              <a:tr h="683333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Inverted Power Terminal Block (J1)</a:t>
                      </a:r>
                    </a:p>
                  </a:txBody>
                  <a:tcPr>
                    <a:solidFill>
                      <a:srgbClr val="131A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87171"/>
                          </a:solidFill>
                          <a:latin typeface="Segoe UI"/>
                          <a:cs typeface="Segoe UI"/>
                        </a:rPr>
                        <a:t>Stage 05 (3D Check)</a:t>
                      </a:r>
                    </a:p>
                  </a:txBody>
                  <a:tcPr>
                    <a:solidFill>
                      <a:srgbClr val="131A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Segoe UI"/>
                          <a:cs typeface="Segoe UI"/>
                        </a:rPr>
                        <a:t>Stage 05 (Connector Audit)</a:t>
                      </a:r>
                    </a:p>
                  </a:txBody>
                  <a:tcPr>
                    <a:solidFill>
                      <a:srgbClr val="131A29"/>
                    </a:solidFill>
                  </a:tcPr>
                </a:tc>
              </a:tr>
              <a:tr h="68333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Board Outline Plotted on Copper Layers</a:t>
                      </a:r>
                    </a:p>
                  </a:txBody>
                  <a:tcPr>
                    <a:solidFill>
                      <a:srgbClr val="131A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87171"/>
                          </a:solidFill>
                          <a:latin typeface="Segoe UI"/>
                          <a:cs typeface="Segoe UI"/>
                        </a:rPr>
                        <a:t>Stage 06 (DFM Error)</a:t>
                      </a:r>
                    </a:p>
                  </a:txBody>
                  <a:tcPr>
                    <a:solidFill>
                      <a:srgbClr val="131A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Segoe UI"/>
                          <a:cs typeface="Segoe UI"/>
                        </a:rPr>
                        <a:t>Stage 06 (Pre-Upload Check)</a:t>
                      </a:r>
                    </a:p>
                  </a:txBody>
                  <a:tcPr>
                    <a:solidFill>
                      <a:srgbClr val="131A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50000"/>
            <a:ext cx="8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  <a:cs typeface="Segoe U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600000"/>
            <a:ext cx="10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  <a:cs typeface="Segoe UI"/>
              </a:rPr>
              <a:t>Local, Deterministic, Zero Institutional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100000"/>
            <a:ext cx="100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Segoe UI"/>
                <a:cs typeface="Segoe UI"/>
              </a:rPr>
              <a:t>Designed for institutional compliance, speed, and privacy.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6478000"/>
            <a:ext cx="10992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Segoe UI"/>
                <a:cs typeface="Segoe UI"/>
              </a:rPr>
              <a:t>pcb-advisor  ·  Ilia Shalem  ·  Avihai Aharon (Course 27525)  ·  Slide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000" y="1700000"/>
            <a:ext cx="3530666" cy="4300000"/>
          </a:xfrm>
          <a:prstGeom prst="rect">
            <a:avLst/>
          </a:prstGeom>
          <a:solidFill>
            <a:srgbClr val="131A29"/>
          </a:solidFill>
          <a:ln w="9525">
            <a:solidFill>
              <a:srgbClr val="23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000" y="1900000"/>
            <a:ext cx="3130666" cy="3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Segoe UI"/>
                <a:cs typeface="Segoe UI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Native File Parser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64748B"/>
                </a:solidFill>
                <a:latin typeface="Segoe UI"/>
                <a:cs typeface="Segoe UI"/>
              </a:rPr>
              <a:t>READ-ONLY LOCAL CAD ACCESS</a:t>
            </a:r>
          </a:p>
          <a:p>
            <a:pPr>
              <a:spcBef>
                <a:spcPts val="16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Directly parses binary .PcbDoc and .SchDoc files on disk.
• Zero Altium GUI automation
• Zero mouse clicking
• Completely safe: Cannot corrupt original project files.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0666" y="1700000"/>
            <a:ext cx="3530666" cy="4300000"/>
          </a:xfrm>
          <a:prstGeom prst="rect">
            <a:avLst/>
          </a:prstGeom>
          <a:solidFill>
            <a:srgbClr val="131A29"/>
          </a:solidFill>
          <a:ln w="9525">
            <a:solidFill>
              <a:srgbClr val="23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0666" y="1900000"/>
            <a:ext cx="3130666" cy="3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DD4BF"/>
                </a:solidFill>
                <a:latin typeface="Segoe UI"/>
                <a:cs typeface="Segoe UI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Local CLI Engine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64748B"/>
                </a:solidFill>
                <a:latin typeface="Segoe UI"/>
                <a:cs typeface="Segoe UI"/>
              </a:rPr>
              <a:t>STUDENT-DRIVEN RUNTIME</a:t>
            </a:r>
          </a:p>
          <a:p>
            <a:pPr>
              <a:spcBef>
                <a:spcPts val="16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Operates through the student's existing CLI session (Claude Code / Antigravity).
• $0 Cost to the University
• No API keys stored on servers
• 100% Local data privacy.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1332" y="1700000"/>
            <a:ext cx="3530666" cy="4300000"/>
          </a:xfrm>
          <a:prstGeom prst="rect">
            <a:avLst/>
          </a:prstGeom>
          <a:solidFill>
            <a:srgbClr val="131A29"/>
          </a:solidFill>
          <a:ln w="9525">
            <a:solidFill>
              <a:srgbClr val="23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1332" y="1900000"/>
            <a:ext cx="3130666" cy="3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4D399"/>
                </a:solidFill>
                <a:latin typeface="Segoe UI"/>
                <a:cs typeface="Segoe UI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Grounded Truth Base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64748B"/>
                </a:solidFill>
                <a:latin typeface="Segoe UI"/>
                <a:cs typeface="Segoe UI"/>
              </a:rPr>
              <a:t>VERIFIED SPECIFICATIONS</a:t>
            </a:r>
          </a:p>
          <a:p>
            <a:pPr>
              <a:spcBef>
                <a:spcPts val="16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All AI reasoning is constrained by deterministic sources.
• Live JLCPCB stock endpoint
• Local manufacturer PDF datasheets
• Course design guidelines.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50000"/>
            <a:ext cx="8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Segoe UI"/>
                <a:cs typeface="Segoe UI"/>
              </a:rPr>
              <a:t>COURSE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600000"/>
            <a:ext cx="10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  <a:cs typeface="Segoe UI"/>
              </a:rPr>
              <a:t>Frequently Asked Questions &amp;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100000"/>
            <a:ext cx="100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Segoe UI"/>
                <a:cs typeface="Segoe UI"/>
              </a:rPr>
              <a:t>Direct answers to key pedagogical and evaluation considerations.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6478000"/>
            <a:ext cx="10992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Segoe UI"/>
                <a:cs typeface="Segoe UI"/>
              </a:rPr>
              <a:t>pcb-advisor  ·  Ilia Shalem  ·  Avihai Aharon (Course 27525)  ·  Slide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000" y="1700000"/>
            <a:ext cx="5371000" cy="1900000"/>
          </a:xfrm>
          <a:prstGeom prst="rect">
            <a:avLst/>
          </a:prstGeom>
          <a:solidFill>
            <a:srgbClr val="131A29"/>
          </a:solidFill>
          <a:ln w="9525">
            <a:solidFill>
              <a:srgbClr val="23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000" y="1850000"/>
            <a:ext cx="4971000" cy="1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  <a:cs typeface="Segoe UI"/>
              </a:rPr>
              <a:t>Does it replace the student's work?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No. The student manually places components, routes copper traces, and draws the schematic in Altium. The tool acts strictly as an automated Teaching Assistant.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1000" y="1700000"/>
            <a:ext cx="5371000" cy="1900000"/>
          </a:xfrm>
          <a:prstGeom prst="rect">
            <a:avLst/>
          </a:prstGeom>
          <a:solidFill>
            <a:srgbClr val="131A29"/>
          </a:solidFill>
          <a:ln w="9525">
            <a:solidFill>
              <a:srgbClr val="23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1000" y="1850000"/>
            <a:ext cx="4971000" cy="1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  <a:cs typeface="Segoe UI"/>
              </a:rPr>
              <a:t>What if the AI hallucinates?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Every claim is grounded in verified documentation. Recommendations without an exact datasheet table or course citation are prohibited from being displayed.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000" y="3800000"/>
            <a:ext cx="5371000" cy="1900000"/>
          </a:xfrm>
          <a:prstGeom prst="rect">
            <a:avLst/>
          </a:prstGeom>
          <a:solidFill>
            <a:srgbClr val="131A29"/>
          </a:solidFill>
          <a:ln w="9525">
            <a:solidFill>
              <a:srgbClr val="23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3950000"/>
            <a:ext cx="4971000" cy="1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  <a:cs typeface="Segoe UI"/>
              </a:rPr>
              <a:t>Why not use generic ChatGPT?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Generic LLMs cannot parse local binary .PcbDoc files, check live distributor stock endpoints, or inspect custom Altium integrated libraries.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1000" y="3800000"/>
            <a:ext cx="5371000" cy="1900000"/>
          </a:xfrm>
          <a:prstGeom prst="rect">
            <a:avLst/>
          </a:prstGeom>
          <a:solidFill>
            <a:srgbClr val="131A29"/>
          </a:solidFill>
          <a:ln w="9525">
            <a:solidFill>
              <a:srgbClr val="23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1000" y="3950000"/>
            <a:ext cx="4971000" cy="1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  <a:cs typeface="Segoe UI"/>
              </a:rPr>
              <a:t>Who pays and what about privacy?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Zero cost to the university. The system runs locally through the student's personal CLI environment. No private project files leave the computer.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